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1005840"/>
            <a:ext cx="4754880" cy="4754880"/>
          </a:xfrm>
          <a:prstGeom prst="ellipse">
            <a:avLst/>
          </a:prstGeom>
          <a:ln w="12700">
            <a:solidFill>
              <a:srgbClr val="E8B2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2011680"/>
            <a:ext cx="2743200" cy="2743200"/>
          </a:xfrm>
          <a:prstGeom prst="ellipse">
            <a:avLst/>
          </a:prstGeom>
          <a:ln w="12700">
            <a:solidFill>
              <a:srgbClr val="E8B24A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788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spc="600" kern="0" dirty="0">
                <a:solidFill>
                  <a:srgbClr val="E8B24A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2330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685800" y="1417320"/>
            <a:ext cx="310896" cy="6400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2252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系統介紹 · 流程說明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82880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00" kern="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自主投資委員會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704088" y="3977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七位 AI 委員,針對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E8B2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一檔台股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展開一場結構化辯論,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 analyst-grade 的繁體中文判讀。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91440" cy="91440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53583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7-Agent LLM Committee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5532120"/>
            <a:ext cx="91440" cy="91440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9" name="Text 17"/>
          <p:cNvSpPr/>
          <p:nvPr/>
        </p:nvSpPr>
        <p:spPr>
          <a:xfrm>
            <a:off x="4133088" y="53583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 → 辯論 → 反省 → 查核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5532120"/>
            <a:ext cx="91440" cy="91440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79208" y="53583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· GUI · Web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108336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THIS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把「投資委員會開會」變成可執行的多智能體系統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不是單一模型給答案,而是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8B2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七位各有專業與立場的 AI 委員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,針對同一檔台股,跑完整一輪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 → 質詢 → 答辯 → 裁決 → 自我反省 → 查核 的辯論。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10817352" cy="109728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31920"/>
            <a:ext cx="45720" cy="109728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319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最終輸出 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8B2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買進 / 持有 / 賣出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+ 信心度 + 一份專業研究報告(評等橫幅 + 數據儀表板 + 走勢圖)。全程繁體中文,所有數字都來自真實工具呼叫。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34924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100" kern="0" dirty="0">
                <a:solidFill>
                  <a:srgbClr val="EC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單一檔股 · 2330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5112" y="534924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100" kern="0" dirty="0">
                <a:solidFill>
                  <a:srgbClr val="EC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真實資料 · TWSE / openapi / 新聞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64424" y="534924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100" kern="0" dirty="0">
                <a:solidFill>
                  <a:srgbClr val="EC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三前端共用同一引擎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2216672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兩層架構,事件驅動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5330952" cy="182880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606040"/>
            <a:ext cx="45720" cy="18288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834640"/>
            <a:ext cx="4782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— 通用核心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完全不含股市知識的可重用多智能體引擎: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EventBus · Agent · Orchestrator · LLMClient · EvidenceLedger · verify · ReportCollector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2606040"/>
            <a:ext cx="5330952" cy="182880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606040"/>
            <a:ext cx="45720" cy="18288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834640"/>
            <a:ext cx="4782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committee — 台股領域層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246120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所有「台股」知識都在這: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委員 prompts &amp; 名冊 · 8 個資料工具 · TWSE／新聞 clients · HTML 報告產生器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4800600"/>
            <a:ext cx="10817352" cy="566928"/>
          </a:xfrm>
          <a:prstGeom prst="roundRect">
            <a:avLst>
              <a:gd name="adj" fmla="val 16129"/>
            </a:avLst>
          </a:prstGeom>
          <a:solidFill>
            <a:srgbClr val="E8B2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800600"/>
            <a:ext cx="10817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2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EventBus  —  引擎只廣播事件,前端全是 subscriber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要加新前端 = 寫一個事件處理函式,引擎完全不動。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821424"/>
            <a:ext cx="3325008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COMMITTEE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八位委員,兩種模型層級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66090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93522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基本面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估值 · 月營收 · 財報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B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19856" y="2514600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02736" y="266090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02736" y="293522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602736" y="342900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均線 · RSI/KD/MACD · 相對強弱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02736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B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53912" y="2514600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6792" y="266090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36792" y="293522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籌碼面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336792" y="342900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三大法人買賣超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36792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B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87968" y="2514600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70848" y="266090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070848" y="293522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新聞輿情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070848" y="342900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近期新聞利多利空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70848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B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4288536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E8B24A">
                <a:alpha val="60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挑戰組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68680" y="4709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風險經理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868680" y="520293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波動 · 回撤 · 下檔風險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" y="561441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19856" y="4288536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E8B24A">
                <a:alpha val="60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02736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挑戰組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02736" y="4709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魔鬼代言人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3602736" y="520293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無工具,專破共識盲點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602736" y="561441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53912" y="4288536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E8B24A">
                <a:alpha val="60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36792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決策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36792" y="4709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主席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520293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彙整辯論,下最終裁決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36792" y="561441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87968" y="4288536"/>
            <a:ext cx="2615184" cy="1627632"/>
          </a:xfrm>
          <a:prstGeom prst="rect">
            <a:avLst/>
          </a:prstGeom>
          <a:solidFill>
            <a:srgbClr val="10141C"/>
          </a:solidFill>
          <a:ln w="12700">
            <a:solidFill>
              <a:srgbClr val="E8B24A">
                <a:alpha val="60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070848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把關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070848" y="4709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查核員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9070848" y="520293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檢查結論與數據一致性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070848" y="561441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6821424"/>
            <a:ext cx="4433344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八個資料工具,全部抓真實資料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514600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267919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get_valuation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308152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本益比 · 淨值比 · 殖利率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6968" y="353872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19856" y="2514600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9856" y="2514600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20" name="Text 18"/>
          <p:cNvSpPr/>
          <p:nvPr/>
        </p:nvSpPr>
        <p:spPr>
          <a:xfrm>
            <a:off x="3621024" y="267919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get_technical_indicators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21024" y="308152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均線 · RSI · KD · MACD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21024" y="353872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53912" y="2514600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53912" y="2514600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67919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get_institutional_flows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08152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三大法人買賣超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55080" y="353872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TWSE T86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87968" y="2514600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87968" y="2514600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30" name="Text 28"/>
          <p:cNvSpPr/>
          <p:nvPr/>
        </p:nvSpPr>
        <p:spPr>
          <a:xfrm>
            <a:off x="9089136" y="267919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get_monthly_revenue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89136" y="3081528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月營收年增 / 月增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89136" y="353872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4050792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" y="4050792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35" name="Text 33"/>
          <p:cNvSpPr/>
          <p:nvPr/>
        </p:nvSpPr>
        <p:spPr>
          <a:xfrm>
            <a:off x="886968" y="421538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get_risk_metrics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6968" y="461772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年化波動 · 最大回撤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86968" y="507492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19856" y="4050792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19856" y="4050792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40" name="Text 38"/>
          <p:cNvSpPr/>
          <p:nvPr/>
        </p:nvSpPr>
        <p:spPr>
          <a:xfrm>
            <a:off x="3621024" y="421538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search_news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21024" y="461772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近期新聞標題摘要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621024" y="507492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DuckDuckGo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53912" y="4050792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53912" y="4050792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421538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get_relative_strength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55080" y="461772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相對大盤超額報酬 · Beta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355080" y="507492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TWSE 指數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87968" y="4050792"/>
            <a:ext cx="2615184" cy="137160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887968" y="4050792"/>
            <a:ext cx="45720" cy="13716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50" name="Text 48"/>
          <p:cNvSpPr/>
          <p:nvPr/>
        </p:nvSpPr>
        <p:spPr>
          <a:xfrm>
            <a:off x="9089136" y="421538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get_financials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089136" y="461772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· 營益率 · ROE · EPS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089136" y="507492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財報 openapi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欄位順序皆由 spike 腳本實測確認,不信官方文件;LLM 傳來的字串參數一律防禦性轉型。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6821424"/>
            <a:ext cx="5541680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FLOW · 辯論流程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六階段,主席主導的有界辯論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1636776" cy="260604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" y="2953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335584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" y="3657600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研究分析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0392" y="4270248"/>
            <a:ext cx="1307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分析師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用工具取數據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22576" y="2788920"/>
            <a:ext cx="19202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14600" y="2788920"/>
            <a:ext cx="1636776" cy="260604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79192" y="2953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79192" y="335584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79192" y="3657600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質詢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679192" y="4270248"/>
            <a:ext cx="1307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 + 魔鬼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代言人挑弱點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51376" y="2788920"/>
            <a:ext cx="19202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3400" y="2788920"/>
            <a:ext cx="1636776" cy="260604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07992" y="2953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07992" y="335584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REBUTTAL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07992" y="3657600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答辯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507992" y="4270248"/>
            <a:ext cx="1307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分析師回應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修正立場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80176" y="2788920"/>
            <a:ext cx="19202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2200" y="2788920"/>
            <a:ext cx="1636776" cy="2606040"/>
          </a:xfrm>
          <a:prstGeom prst="rect">
            <a:avLst/>
          </a:prstGeom>
          <a:solidFill>
            <a:srgbClr val="10141C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36792" y="2953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335584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36792" y="3657600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裁決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336792" y="4270248"/>
            <a:ext cx="1307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主席彙整出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建議草稿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08976" y="2788920"/>
            <a:ext cx="19202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01000" y="2788920"/>
            <a:ext cx="1636776" cy="2606040"/>
          </a:xfrm>
          <a:prstGeom prst="rect">
            <a:avLst/>
          </a:prstGeom>
          <a:solidFill>
            <a:srgbClr val="1C2230"/>
          </a:solidFill>
          <a:ln w="19050">
            <a:solidFill>
              <a:srgbClr val="E8B24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92440" y="2642616"/>
            <a:ext cx="1453896" cy="274320"/>
          </a:xfrm>
          <a:prstGeom prst="rect">
            <a:avLst/>
          </a:prstGeom>
          <a:solidFill>
            <a:srgbClr val="E8B2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12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品質把關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65592" y="2953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65592" y="335584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REFLECT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65592" y="3657600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自我反省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8165592" y="4270248"/>
            <a:ext cx="1307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主席自批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重寫結論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637776" y="2788920"/>
            <a:ext cx="19202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829800" y="2788920"/>
            <a:ext cx="1636776" cy="2606040"/>
          </a:xfrm>
          <a:prstGeom prst="rect">
            <a:avLst/>
          </a:prstGeom>
          <a:solidFill>
            <a:srgbClr val="1C2230"/>
          </a:solidFill>
          <a:ln w="19050">
            <a:solidFill>
              <a:srgbClr val="E8B24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921240" y="2642616"/>
            <a:ext cx="1453896" cy="274320"/>
          </a:xfrm>
          <a:prstGeom prst="rect">
            <a:avLst/>
          </a:prstGeom>
          <a:solidFill>
            <a:srgbClr val="E8B2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12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品質把關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994392" y="2953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994392" y="335584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994392" y="3657600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9994392" y="4270248"/>
            <a:ext cx="1307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數據比對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必要時修正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REFLECT 與 VERIFY 是裁決後的兩道品質把關 — 自我反省 + 數據查核。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821424"/>
            <a:ext cx="6650016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BY PHASE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每個階段在做什麼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603504" cy="603504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603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RESEARCH · 研究分析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4507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四位分析師各自呼叫工具抓真實數據,給出看多／看空／中性傾向。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560320"/>
            <a:ext cx="603504" cy="603504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5603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2468880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CHALLENGE · 質詢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834640"/>
            <a:ext cx="4507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風險經理與魔鬼代言人專挑最弱、最樂觀、最缺證據的論點開火。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785616"/>
            <a:ext cx="603504" cy="603504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8561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694176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REBUTTAL · 答辯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059936"/>
            <a:ext cx="4507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分析師針對與自己專業相關的質疑回應,或修正先前看法。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785616"/>
            <a:ext cx="603504" cy="603504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78561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9440" y="3694176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VERDICT · 裁決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059936"/>
            <a:ext cx="4507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主席彙整整場辯論,輸出「建議 / 信心 / 理由」格式的結論草稿。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5010912"/>
            <a:ext cx="603504" cy="603504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0109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463040" y="4919472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REFLECT · 自我反省（新）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5285232"/>
            <a:ext cx="4507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主席回頭檢視推理是否紮實、一致、有據,重寫一版改良結論。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5010912"/>
            <a:ext cx="603504" cy="603504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50109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949440" y="4919472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VERIFY · 查核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5285232"/>
            <a:ext cx="4507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確定性數據比對 + LLM 一致性檢查;未支持數字標記、必要時修正。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821424"/>
            <a:ext cx="7758351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GATES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兩道品質把關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5330952" cy="233172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606040"/>
            <a:ext cx="45720" cy="233172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862072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2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REFLECT · 自我反省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4690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裁決後、查核前,主席先自我批判並重寫(Self-Refine)。只輸出同格式的改良結論,避免把思考草稿當答案。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核心預設關閉,由領域層 env 開啟(預設 1 輪、可調)。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72200" y="2606040"/>
            <a:ext cx="5330952" cy="233172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606040"/>
            <a:ext cx="45720" cy="233172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862072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2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VERIFY · 確定性查核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4690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從結論抽出數字,逐一比對證據帳本(EvidenceLedger)裡的工具結果。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未支持的數字永遠標記、絕不偷偷刪除;grounding 失敗則對主席做一次修正回合。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212080"/>
            <a:ext cx="10817352" cy="713232"/>
          </a:xfrm>
          <a:prstGeom prst="roundRect">
            <a:avLst>
              <a:gd name="adj" fmla="val 15385"/>
            </a:avLst>
          </a:prstGeom>
          <a:solidFill>
            <a:srgbClr val="10141C"/>
          </a:solidFill>
          <a:ln w="12700">
            <a:solidFill>
              <a:srgbClr val="E8B24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212080"/>
            <a:ext cx="10817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C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設計原則:寧可誠實標記不確定,也不產生看似精確、實則無據的數字。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8866687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兩層模型 · 可切換供應商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10817352" cy="91440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606040"/>
            <a:ext cx="45720" cy="9144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位研究分析師 — 需要可靠的 function calling 去抓資料。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666744"/>
            <a:ext cx="10817352" cy="91440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666744"/>
            <a:ext cx="45720" cy="9144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6674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3666744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主席 / 風險 / 魔鬼代言人 / 查核員 — 需要深度推理與格式遵循。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4727448"/>
            <a:ext cx="10817352" cy="91440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4727448"/>
            <a:ext cx="45720" cy="91440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7274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4727448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env 切換 NVIDIA ↔ OpenRouter;皆為 OpenAI 相容,只差 base_url + key + model id。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免費模型有每日配額與限流 → model 可填逗號清單,主模型 429 時自動切換備援。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821424"/>
            <a:ext cx="9975023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4048"/>
            <a:ext cx="109728" cy="109728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43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自主投資委員會 · AGENTIC INVESTMENT COMMITTEE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FRONT-ENDS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同一引擎,三種介面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3502152" cy="219456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651760"/>
            <a:ext cx="45720" cy="219456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260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終端機渲染器,逐字串流辯論過程。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43400" y="2651760"/>
            <a:ext cx="3502152" cy="219456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2651760"/>
            <a:ext cx="45720" cy="219456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9260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Desktop GUI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352044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393192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Tkinter 視窗,pipeline 卡片 + 即時串流。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01000" y="2651760"/>
            <a:ext cx="3502152" cy="2194560"/>
          </a:xfrm>
          <a:prstGeom prst="rect">
            <a:avLst/>
          </a:prstGeom>
          <a:solidFill>
            <a:srgbClr val="151B27"/>
          </a:solidFill>
          <a:ln w="12700">
            <a:solidFill>
              <a:srgbClr val="2A32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1000" y="2651760"/>
            <a:ext cx="45720" cy="2194560"/>
          </a:xfrm>
          <a:prstGeom prst="rect">
            <a:avLst/>
          </a:prstGeom>
          <a:solidFill>
            <a:srgbClr val="E8B24A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29260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21040" y="352044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web/server.py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393192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+ WebSocket,瀏覽器即時儀表板。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5800" y="5120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三者跑同一份引擎、產出同一份 </a:t>
            </a:r>
            <a:pPr indent="0" marL="0">
              <a:buNone/>
            </a:pPr>
            <a:r>
              <a:rPr lang="en-US" sz="15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reports/&lt;股號&gt;_&lt;時間&gt;.html</a:t>
            </a:r>
            <a:pPr indent="0" marL="0">
              <a:buNone/>
            </a:pPr>
            <a:r>
              <a:rPr lang="en-US" sz="1500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。差別只在「如何把事件畫到畫面上」。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821424"/>
            <a:ext cx="11083359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86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0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3771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7733" y="0"/>
            <a:ext cx="0" cy="6858000"/>
          </a:xfrm>
          <a:prstGeom prst="line">
            <a:avLst/>
          </a:prstGeom>
          <a:noFill/>
          <a:ln w="6350">
            <a:solidFill>
              <a:srgbClr val="1E25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ln w="12700">
            <a:solidFill>
              <a:srgbClr val="E8B24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總結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可重用核心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台股領域層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CE6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事件驅動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研究分析 → 質詢 → 答辯 → 裁決 → 自我反省 → 查核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0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一個可擴充、可審計、誠實面對不確定性的 AI 投資委員會。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821424"/>
            <a:ext cx="12191695" cy="0"/>
          </a:xfrm>
          <a:prstGeom prst="line">
            <a:avLst/>
          </a:prstGeom>
          <a:noFill/>
          <a:ln w="31750">
            <a:solidFill>
              <a:srgbClr val="E8B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80015" y="274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自主投資委員會 — 系統介紹</dc:title>
  <dc:subject>PptxGenJS Presentation</dc:subject>
  <dc:creator>Agentic Investment Committee</dc:creator>
  <cp:lastModifiedBy>Agentic Investment Committee</cp:lastModifiedBy>
  <cp:revision>1</cp:revision>
  <dcterms:created xsi:type="dcterms:W3CDTF">2026-05-31T13:20:21Z</dcterms:created>
  <dcterms:modified xsi:type="dcterms:W3CDTF">2026-05-31T13:20:21Z</dcterms:modified>
</cp:coreProperties>
</file>